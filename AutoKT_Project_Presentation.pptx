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presenting AutoKT, our AI-powered codebase intelligence and automated knowledge-transfer platform. Every engineering team faces the challenge of developer ramp-up and the catastrophic loss of institutional memory when developers leave. AutoKT bridges this gap using a dual-engine architecture combining Neo4j graph databases and hybrid vector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why current developer onboarding fails: traditional documentation is static and stale. Engineers either have to dig through thousands of lines of unfamiliar code or constantly pull senior staff away from high-priority work. Furthermore, engineering leaders lack visibility into key-person dependency until that person resigns, leaving the team with unmaintainable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Pure vector RAG fails on code because code is fundamentally relational and hierarchical. AutoKT's breakthrough is the Dual-Engine approach: Neo4j maintains the absolute truth of function call graphs, file imports, and author ownership, while ChromaDB and BM25 handle semantic context. This ensures answers are 100% factual and hallucination-free.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five core components we delivered in AutoKT: First, the responsive Knowledge Graph where developers visually inspect architecture. Second, Module Health to audit contributor distribution and bus factor risks. Third, Grounded Q&amp;A that gives verified answers with exact line citations. Fourth, Automated KT Packs that generate structured onboarding documentation in seconds. And fifth, Business Mapping connecting PRD requirements directly to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deploying AutoKT, companies transform their engineering economics: Ramp-up time drops from months to days. Key person departures no longer paralyze teams. And for the first time, product managers can audit what is built without needing a senior developer to translate code into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forward, AutoKT evolves from a reactive onboarding portal into an autonomous engineering guardian. By integrating directly into CI/CD pipelines and IDEs, AutoKT will prevent knowledge drift before code even merges, ensuring institutional memory stays evergreen.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1D"/>
          </a:solidFill>
          <a:ln>
            <a:solidFill>
              <a:srgbClr val="172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73152"/>
          </a:xfrm>
          <a:prstGeom prst="rect">
            <a:avLst/>
          </a:prstGeom>
          <a:solidFill>
            <a:srgbClr val="B9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B9F56A"/>
                </a:solidFill>
                <a:latin typeface="Georgia"/>
              </a:defRPr>
            </a:pPr>
            <a:r>
              <a:t>AutoKT</a:t>
            </a:r>
          </a:p>
          <a:p>
            <a:pPr>
              <a:defRPr sz="3000" b="1">
                <a:solidFill>
                  <a:srgbClr val="F6F6EE"/>
                </a:solidFill>
                <a:latin typeface="Georgia"/>
              </a:defRPr>
            </a:pPr>
            <a:r>
              <a:t>AI-Powered Codebase Intelligence &amp; Knowledge Transfer</a:t>
            </a:r>
          </a:p>
          <a:p>
            <a:pPr>
              <a:spcBef>
                <a:spcPts val="1200"/>
              </a:spcBef>
              <a:defRPr sz="1600">
                <a:solidFill>
                  <a:srgbClr val="9AA49F"/>
                </a:solidFill>
                <a:latin typeface="Segoe UI"/>
              </a:defRPr>
            </a:pPr>
            <a:r>
              <a:t>Transforming weeks of developer onboarding into hours of instant, graph-grounded understanding.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337560" cy="2011680"/>
          </a:xfrm>
          <a:prstGeom prst="roundRect">
            <a:avLst/>
          </a:prstGeom>
          <a:solidFill>
            <a:srgbClr val="212C28"/>
          </a:solidFill>
          <a:ln w="12700">
            <a:solidFill>
              <a:srgbClr val="33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9768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F56A"/>
                </a:solidFill>
                <a:latin typeface="Segoe UI"/>
              </a:defRPr>
            </a:pPr>
            <a:r>
              <a:t>🧠 Dual-Brain Architecture</a:t>
            </a:r>
          </a:p>
          <a:p>
            <a:pPr>
              <a:spcBef>
                <a:spcPts val="800"/>
              </a:spcBef>
              <a:defRPr sz="1200">
                <a:solidFill>
                  <a:srgbClr val="9AA49F"/>
                </a:solidFill>
                <a:latin typeface="Segoe UI"/>
              </a:defRPr>
            </a:pPr>
            <a:r>
              <a:t>Neo4j Knowledge Graph + ChromaDB Hybrid RAG grounding code in true topology.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337560" cy="2011680"/>
          </a:xfrm>
          <a:prstGeom prst="roundRect">
            <a:avLst/>
          </a:prstGeom>
          <a:solidFill>
            <a:srgbClr val="212C28"/>
          </a:solidFill>
          <a:ln w="12700">
            <a:solidFill>
              <a:srgbClr val="33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429768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F56A"/>
                </a:solidFill>
                <a:latin typeface="Segoe UI"/>
              </a:defRPr>
            </a:pPr>
            <a:r>
              <a:t>🗺️ Interactive Visual Canvas</a:t>
            </a:r>
          </a:p>
          <a:p>
            <a:pPr>
              <a:spcBef>
                <a:spcPts val="800"/>
              </a:spcBef>
              <a:defRPr sz="1200">
                <a:solidFill>
                  <a:srgbClr val="9AA49F"/>
                </a:solidFill>
                <a:latin typeface="Segoe UI"/>
              </a:defRPr>
            </a:pPr>
            <a:r>
              <a:t>2D force-directed architecture explorer with on-demand 1-hop neighbor expansion.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37560" cy="2011680"/>
          </a:xfrm>
          <a:prstGeom prst="roundRect">
            <a:avLst/>
          </a:prstGeom>
          <a:solidFill>
            <a:srgbClr val="212C28"/>
          </a:solidFill>
          <a:ln w="12700">
            <a:solidFill>
              <a:srgbClr val="33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429768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F56A"/>
                </a:solidFill>
                <a:latin typeface="Segoe UI"/>
              </a:defRPr>
            </a:pPr>
            <a:r>
              <a:t>🛡️ Bus Factor &amp; Health Radar</a:t>
            </a:r>
          </a:p>
          <a:p>
            <a:pPr>
              <a:spcBef>
                <a:spcPts val="800"/>
              </a:spcBef>
              <a:defRPr sz="1200">
                <a:solidFill>
                  <a:srgbClr val="9AA49F"/>
                </a:solidFill>
                <a:latin typeface="Segoe UI"/>
              </a:defRPr>
            </a:pPr>
            <a:r>
              <a:t>Git contributor mining to detect sole-owner risks and knowledge gaps automatically.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EF"/>
          </a:solidFill>
          <a:ln>
            <a:solidFill>
              <a:srgbClr val="F5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833F"/>
                </a:solidFill>
                <a:latin typeface="Segoe UI"/>
              </a:defRPr>
            </a:pPr>
            <a:r>
              <a:t>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1D"/>
                </a:solidFill>
                <a:latin typeface="Georgia"/>
              </a:defRPr>
            </a:pPr>
            <a:r>
              <a:t>The Developer Knowledge Transfer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07872"/>
                </a:solidFill>
                <a:latin typeface="Segoe UI"/>
              </a:defRPr>
            </a:pPr>
            <a:r>
              <a:t>Engineering organizations lose millions annually to tribal knowledge silos, slow onboarding, and unmapped legacy debt.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11480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B52"/>
                </a:solidFill>
                <a:latin typeface="Segoe UI"/>
              </a:defRPr>
            </a:pPr>
            <a:r>
              <a:t>01. PAIN POINT</a:t>
            </a:r>
          </a:p>
          <a:p>
            <a:pPr>
              <a:spcBef>
                <a:spcPts val="600"/>
              </a:spcBef>
              <a:defRPr sz="1700" b="1">
                <a:solidFill>
                  <a:srgbClr val="17201D"/>
                </a:solidFill>
                <a:latin typeface="Georgia"/>
              </a:defRPr>
            </a:pPr>
            <a:r>
              <a:t>The Tribal Knowledge Black Hole</a:t>
            </a:r>
          </a:p>
          <a:p>
            <a:pPr>
              <a:spcBef>
                <a:spcPts val="600"/>
              </a:spcBef>
              <a:defRPr sz="1200" i="1">
                <a:solidFill>
                  <a:srgbClr val="707872"/>
                </a:solidFill>
                <a:latin typeface="Segoe UI"/>
              </a:defRPr>
            </a:pPr>
            <a:r>
              <a:t>Critical architecture decisions live only in senior engineers' heads or fragmented chat channels.</a:t>
            </a:r>
          </a:p>
          <a:p>
            <a:pPr>
              <a:spcBef>
                <a:spcPts val="1200"/>
              </a:spcBef>
              <a:defRPr sz="1100">
                <a:solidFill>
                  <a:srgbClr val="17201D"/>
                </a:solidFill>
                <a:latin typeface="Segoe UI"/>
              </a:defRPr>
            </a:pPr>
            <a:r>
              <a:t>• 60%+ of internal documentation goes obsolete within 90 days.</a:t>
            </a:r>
            <a:br/>
            <a:r>
              <a:t>• High institutional dependency on single individuals.</a:t>
            </a:r>
            <a:br/>
            <a:r>
              <a:t>• Expensive context interruptions for senior developers.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37560" cy="411480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7C4A"/>
                </a:solidFill>
                <a:latin typeface="Segoe UI"/>
              </a:defRPr>
            </a:pPr>
            <a:r>
              <a:t>02. PAIN POINT</a:t>
            </a:r>
          </a:p>
          <a:p>
            <a:pPr>
              <a:spcBef>
                <a:spcPts val="600"/>
              </a:spcBef>
              <a:defRPr sz="1700" b="1">
                <a:solidFill>
                  <a:srgbClr val="17201D"/>
                </a:solidFill>
                <a:latin typeface="Georgia"/>
              </a:defRPr>
            </a:pPr>
            <a:r>
              <a:t>The 3-to-6 Month Onboarding Sunk Cost</a:t>
            </a:r>
          </a:p>
          <a:p>
            <a:pPr>
              <a:spcBef>
                <a:spcPts val="600"/>
              </a:spcBef>
              <a:defRPr sz="1200" i="1">
                <a:solidFill>
                  <a:srgbClr val="707872"/>
                </a:solidFill>
                <a:latin typeface="Segoe UI"/>
              </a:defRPr>
            </a:pPr>
            <a:r>
              <a:t>New hires spend months reading spaghetti code before making their first confident commit.</a:t>
            </a:r>
          </a:p>
          <a:p>
            <a:pPr>
              <a:spcBef>
                <a:spcPts val="1200"/>
              </a:spcBef>
              <a:defRPr sz="1100">
                <a:solidFill>
                  <a:srgbClr val="17201D"/>
                </a:solidFill>
                <a:latin typeface="Segoe UI"/>
              </a:defRPr>
            </a:pPr>
            <a:r>
              <a:t>• New engineers struggle to trace cross-service call chains.</a:t>
            </a:r>
            <a:br/>
            <a:r>
              <a:t>• Mentors spend 15+ hours/week re-explaining the same core flows.</a:t>
            </a:r>
            <a:br/>
            <a:r>
              <a:t>• Slow time-to-first-commit reduces engineering velocity.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337560" cy="411480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24028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579E8"/>
                </a:solidFill>
                <a:latin typeface="Segoe UI"/>
              </a:defRPr>
            </a:pPr>
            <a:r>
              <a:t>03. PAIN POINT</a:t>
            </a:r>
          </a:p>
          <a:p>
            <a:pPr>
              <a:spcBef>
                <a:spcPts val="600"/>
              </a:spcBef>
              <a:defRPr sz="1700" b="1">
                <a:solidFill>
                  <a:srgbClr val="17201D"/>
                </a:solidFill>
                <a:latin typeface="Georgia"/>
              </a:defRPr>
            </a:pPr>
            <a:r>
              <a:t>Invisible 'Bus Factor' Risks</a:t>
            </a:r>
          </a:p>
          <a:p>
            <a:pPr>
              <a:spcBef>
                <a:spcPts val="600"/>
              </a:spcBef>
              <a:defRPr sz="1200" i="1">
                <a:solidFill>
                  <a:srgbClr val="707872"/>
                </a:solidFill>
                <a:latin typeface="Segoe UI"/>
              </a:defRPr>
            </a:pPr>
            <a:r>
              <a:t>Teams are unaware of which critical modules depend entirely on a single contributor.</a:t>
            </a:r>
          </a:p>
          <a:p>
            <a:pPr>
              <a:spcBef>
                <a:spcPts val="1200"/>
              </a:spcBef>
              <a:defRPr sz="1100">
                <a:solidFill>
                  <a:srgbClr val="17201D"/>
                </a:solidFill>
                <a:latin typeface="Segoe UI"/>
              </a:defRPr>
            </a:pPr>
            <a:r>
              <a:t>• Resignations cause sudden development paralysis.</a:t>
            </a:r>
            <a:br/>
            <a:r>
              <a:t>• Code ownership is opaque until a critical bug strikes production.</a:t>
            </a:r>
            <a:br/>
            <a:r>
              <a:t>• Business PRDs disconnect from what code actually implements.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EF"/>
          </a:solidFill>
          <a:ln>
            <a:solidFill>
              <a:srgbClr val="F5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833F"/>
                </a:solidFill>
                <a:latin typeface="Segoe UI"/>
              </a:defRPr>
            </a:pPr>
            <a:r>
              <a:t>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1D"/>
                </a:solidFill>
                <a:latin typeface="Georgia"/>
              </a:defRPr>
            </a:pPr>
            <a:r>
              <a:t>The AutoKT Dual-Engine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07872"/>
                </a:solidFill>
                <a:latin typeface="Segoe UI"/>
              </a:defRPr>
            </a:pPr>
            <a:r>
              <a:t>Combining deterministic Neo4j graph topology with ChromaDB vector search and hybrid RAG.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11480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4833F"/>
                </a:solidFill>
                <a:latin typeface="Georgia"/>
              </a:defRPr>
            </a:pPr>
            <a:r>
              <a:t>1. Multi-Modal Ingestion Engine</a:t>
            </a:r>
          </a:p>
          <a:p>
            <a:pPr>
              <a:spcBef>
                <a:spcPts val="600"/>
              </a:spcBef>
              <a:defRPr sz="1100" i="1">
                <a:solidFill>
                  <a:srgbClr val="707872"/>
                </a:solidFill>
                <a:latin typeface="Segoe UI"/>
              </a:defRPr>
            </a:pPr>
            <a:r>
              <a:t>Ingests codebases and technical specifications directly from Git and files.</a:t>
            </a:r>
          </a:p>
          <a:p>
            <a:pPr>
              <a:spcBef>
                <a:spcPts val="1200"/>
              </a:spcBef>
              <a:defRPr sz="1100">
                <a:solidFill>
                  <a:srgbClr val="17201D"/>
                </a:solidFill>
                <a:latin typeface="Segoe UI"/>
              </a:defRPr>
            </a:pPr>
            <a:r>
              <a:t>• AST Code Parsing: Extracts Functions, Classes, Calls, and File Imports.</a:t>
            </a:r>
            <a:br/>
            <a:r>
              <a:t>• Git History Mining: Analyzes commits to compute author ownership and bus factor.</a:t>
            </a:r>
            <a:br/>
            <a:r>
              <a:t>• Multi-tenant tenant_key constraints ensuring complete data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37560" cy="411480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579E8"/>
                </a:solidFill>
                <a:latin typeface="Georgia"/>
              </a:defRPr>
            </a:pPr>
            <a:r>
              <a:t>2. Dual-Database Knowledge Foundation</a:t>
            </a:r>
          </a:p>
          <a:p>
            <a:pPr>
              <a:spcBef>
                <a:spcPts val="600"/>
              </a:spcBef>
              <a:defRPr sz="1100" i="1">
                <a:solidFill>
                  <a:srgbClr val="707872"/>
                </a:solidFill>
                <a:latin typeface="Segoe UI"/>
              </a:defRPr>
            </a:pPr>
            <a:r>
              <a:t>Stores both relational structure and semantic context simultaneously.</a:t>
            </a:r>
          </a:p>
          <a:p>
            <a:pPr>
              <a:spcBef>
                <a:spcPts val="1200"/>
              </a:spcBef>
              <a:defRPr sz="1100">
                <a:solidFill>
                  <a:srgbClr val="17201D"/>
                </a:solidFill>
                <a:latin typeface="Segoe UI"/>
              </a:defRPr>
            </a:pPr>
            <a:r>
              <a:t>• Neo4j Graph DB: Maps Repositories ➔ Modules ➔ Files ➔ Functions ➔ Authors.</a:t>
            </a:r>
            <a:br/>
            <a:r>
              <a:t>• ChromaDB Vector Store: Dense embeddings for semantic semantic chunk retrieval.</a:t>
            </a:r>
            <a:br/>
            <a:r>
              <a:t>• Hybrid Lexical BM25: Keyword matching merged via Reciprocal Rank Fusion.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337560" cy="411480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24028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D7C4A"/>
                </a:solidFill>
                <a:latin typeface="Georgia"/>
              </a:defRPr>
            </a:pPr>
            <a:r>
              <a:t>3. AI Intelligence &amp; Presentation Layer</a:t>
            </a:r>
          </a:p>
          <a:p>
            <a:pPr>
              <a:spcBef>
                <a:spcPts val="600"/>
              </a:spcBef>
              <a:defRPr sz="1100" i="1">
                <a:solidFill>
                  <a:srgbClr val="707872"/>
                </a:solidFill>
                <a:latin typeface="Segoe UI"/>
              </a:defRPr>
            </a:pPr>
            <a:r>
              <a:t>Transforms complex topology into actionable, grounded insights.</a:t>
            </a:r>
          </a:p>
          <a:p>
            <a:pPr>
              <a:spcBef>
                <a:spcPts val="1200"/>
              </a:spcBef>
              <a:defRPr sz="1100">
                <a:solidFill>
                  <a:srgbClr val="17201D"/>
                </a:solidFill>
                <a:latin typeface="Segoe UI"/>
              </a:defRPr>
            </a:pPr>
            <a:r>
              <a:t>• Interactive 2D Graph Explorer: Live canvas with physics and 1-hop expansion.</a:t>
            </a:r>
            <a:br/>
            <a:r>
              <a:t>• Grounded Q&amp;A Synthesizer: RAG answers with exact cited LOC and snippets.</a:t>
            </a:r>
            <a:br/>
            <a:r>
              <a:t>• Automated KT Onboarding Packs &amp; Business PRD-to-Code mapping.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EF"/>
          </a:solidFill>
          <a:ln>
            <a:solidFill>
              <a:srgbClr val="F5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833F"/>
                </a:solidFill>
                <a:latin typeface="Segoe UI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1D"/>
                </a:solidFill>
                <a:latin typeface="Georgia"/>
              </a:defRPr>
            </a:pPr>
            <a:r>
              <a:t>What We Built: The AutoKT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07872"/>
                </a:solidFill>
                <a:latin typeface="Segoe UI"/>
              </a:defRPr>
            </a:pPr>
            <a:r>
              <a:t>Five production-grade capabilities delivering complete end-to-end codebase comprehension.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4833F"/>
                </a:solidFill>
                <a:latin typeface="Georgia"/>
              </a:defRPr>
            </a:pPr>
            <a:r>
              <a:t>🗺️ Interactive Knowledge Graph</a:t>
            </a:r>
          </a:p>
          <a:p>
            <a:pPr>
              <a:spcBef>
                <a:spcPts val="200"/>
              </a:spcBef>
              <a:defRPr sz="1100" b="1">
                <a:solidFill>
                  <a:srgbClr val="707872"/>
                </a:solidFill>
                <a:latin typeface="Segoe UI"/>
              </a:defRPr>
            </a:pPr>
            <a:r>
              <a:t>2D Force-Directed Canvas</a:t>
            </a:r>
          </a:p>
          <a:p>
            <a:pPr>
              <a:spcBef>
                <a:spcPts val="600"/>
              </a:spcBef>
              <a:defRPr sz="1100">
                <a:solidFill>
                  <a:srgbClr val="17201D"/>
                </a:solidFill>
                <a:latin typeface="Segoe UI"/>
              </a:defRPr>
            </a:pPr>
            <a:r>
              <a:t>Visualizes Repositories, Modules, Files, Functions, and Owners. Features dynamic 1-hop expansion, entity filtering, and dark/light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120640" cy="192024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7627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5B52"/>
                </a:solidFill>
                <a:latin typeface="Georgia"/>
              </a:defRPr>
            </a:pPr>
            <a:r>
              <a:t>🛡️ Module Health &amp; Bus Factor</a:t>
            </a:r>
          </a:p>
          <a:p>
            <a:pPr>
              <a:spcBef>
                <a:spcPts val="200"/>
              </a:spcBef>
              <a:defRPr sz="1100" b="1">
                <a:solidFill>
                  <a:srgbClr val="707872"/>
                </a:solidFill>
                <a:latin typeface="Segoe UI"/>
              </a:defRPr>
            </a:pPr>
            <a:r>
              <a:t>Risk Radar &amp; Contributor Scoring</a:t>
            </a:r>
          </a:p>
          <a:p>
            <a:pPr>
              <a:spcBef>
                <a:spcPts val="600"/>
              </a:spcBef>
              <a:defRPr sz="1100">
                <a:solidFill>
                  <a:srgbClr val="17201D"/>
                </a:solidFill>
                <a:latin typeface="Segoe UI"/>
              </a:defRPr>
            </a:pPr>
            <a:r>
              <a:t>Evaluates 0–100% transfer-readiness per module, automatically flagging sole-owner risks and unowned legacy components.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20640" cy="192024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2511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579E8"/>
                </a:solidFill>
                <a:latin typeface="Georgia"/>
              </a:defRPr>
            </a:pPr>
            <a:r>
              <a:t>💬 Grounded Code Q&amp;A</a:t>
            </a:r>
          </a:p>
          <a:p>
            <a:pPr>
              <a:spcBef>
                <a:spcPts val="200"/>
              </a:spcBef>
              <a:defRPr sz="1100" b="1">
                <a:solidFill>
                  <a:srgbClr val="707872"/>
                </a:solidFill>
                <a:latin typeface="Segoe UI"/>
              </a:defRPr>
            </a:pPr>
            <a:r>
              <a:t>Hybrid RRF Search &amp; Answer Generation</a:t>
            </a:r>
          </a:p>
          <a:p>
            <a:pPr>
              <a:spcBef>
                <a:spcPts val="600"/>
              </a:spcBef>
              <a:defRPr sz="1100">
                <a:solidFill>
                  <a:srgbClr val="17201D"/>
                </a:solidFill>
                <a:latin typeface="Segoe UI"/>
              </a:defRPr>
            </a:pPr>
            <a:r>
              <a:t>Direct answers to natural language questions ('How does auth work?'), citing exact file paths, line ranges, and ownership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60520"/>
            <a:ext cx="5120640" cy="192024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2511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D7C4A"/>
                </a:solidFill>
                <a:latin typeface="Georgia"/>
              </a:defRPr>
            </a:pPr>
            <a:r>
              <a:t>📦 Auto-Generated Onboarding Packs</a:t>
            </a:r>
          </a:p>
          <a:p>
            <a:pPr>
              <a:spcBef>
                <a:spcPts val="200"/>
              </a:spcBef>
              <a:defRPr sz="1100" b="1">
                <a:solidFill>
                  <a:srgbClr val="707872"/>
                </a:solidFill>
                <a:latin typeface="Segoe UI"/>
              </a:defRPr>
            </a:pPr>
            <a:r>
              <a:t>Structured KT Decks &amp; Targeted Questions</a:t>
            </a:r>
          </a:p>
          <a:p>
            <a:pPr>
              <a:spcBef>
                <a:spcPts val="600"/>
              </a:spcBef>
              <a:defRPr sz="1100">
                <a:solidFill>
                  <a:srgbClr val="17201D"/>
                </a:solidFill>
                <a:latin typeface="Segoe UI"/>
              </a:defRPr>
            </a:pPr>
            <a:r>
              <a:t>One-click generation of architecture overviews, critical files, setup guides, and tailored knowledge transfer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EF"/>
          </a:solidFill>
          <a:ln>
            <a:solidFill>
              <a:srgbClr val="F5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833F"/>
                </a:solidFill>
                <a:latin typeface="Segoe UI"/>
              </a:defRPr>
            </a:pPr>
            <a:r>
              <a:t>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1D"/>
                </a:solidFill>
                <a:latin typeface="Georgia"/>
              </a:defRPr>
            </a:pPr>
            <a:r>
              <a:t>Quantifiable Engineering Value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07872"/>
                </a:solidFill>
                <a:latin typeface="Segoe UI"/>
              </a:defRPr>
            </a:pPr>
            <a:r>
              <a:t>Replacing weeks of manual meetings and guesswork with deterministic, continuous codebase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14600" cy="411480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4833F"/>
                </a:solidFill>
                <a:latin typeface="Georgia"/>
              </a:defRPr>
            </a:pPr>
            <a:r>
              <a:t>70%</a:t>
            </a:r>
          </a:p>
          <a:p>
            <a:pPr>
              <a:spcBef>
                <a:spcPts val="800"/>
              </a:spcBef>
              <a:defRPr sz="1400" b="1">
                <a:solidFill>
                  <a:srgbClr val="17201D"/>
                </a:solidFill>
                <a:latin typeface="Segoe UI"/>
              </a:defRPr>
            </a:pPr>
            <a:r>
              <a:t>Reduction in Ramp-Up Time</a:t>
            </a:r>
          </a:p>
          <a:p>
            <a:pPr>
              <a:spcBef>
                <a:spcPts val="1000"/>
              </a:spcBef>
              <a:defRPr sz="1100">
                <a:solidFill>
                  <a:srgbClr val="707872"/>
                </a:solidFill>
                <a:latin typeface="Segoe UI"/>
              </a:defRPr>
            </a:pPr>
            <a:r>
              <a:t>New hires self-serve onboarding context via the graph and Q&amp;A engine instead of interrupting senior teammates.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514600" cy="411480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579E8"/>
                </a:solidFill>
                <a:latin typeface="Georgia"/>
              </a:defRPr>
            </a:pPr>
            <a:r>
              <a:t>0 Days</a:t>
            </a:r>
          </a:p>
          <a:p>
            <a:pPr>
              <a:spcBef>
                <a:spcPts val="800"/>
              </a:spcBef>
              <a:defRPr sz="1400" b="1">
                <a:solidFill>
                  <a:srgbClr val="17201D"/>
                </a:solidFill>
                <a:latin typeface="Segoe UI"/>
              </a:defRPr>
            </a:pPr>
            <a:r>
              <a:t>Knowledge Lost on Departure</a:t>
            </a:r>
          </a:p>
          <a:p>
            <a:pPr>
              <a:spcBef>
                <a:spcPts val="1000"/>
              </a:spcBef>
              <a:defRPr sz="1100">
                <a:solidFill>
                  <a:srgbClr val="707872"/>
                </a:solidFill>
                <a:latin typeface="Segoe UI"/>
              </a:defRPr>
            </a:pPr>
            <a:r>
              <a:t>Identifies single-owner modules in advance and generates tailored KT questions before handovers occur.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514600" cy="411480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D7C4A"/>
                </a:solidFill>
                <a:latin typeface="Georgia"/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400" b="1">
                <a:solidFill>
                  <a:srgbClr val="17201D"/>
                </a:solidFill>
                <a:latin typeface="Segoe UI"/>
              </a:defRPr>
            </a:pPr>
            <a:r>
              <a:t>Fact-Grounded Code Explanations</a:t>
            </a:r>
          </a:p>
          <a:p>
            <a:pPr>
              <a:spcBef>
                <a:spcPts val="1000"/>
              </a:spcBef>
              <a:defRPr sz="1100">
                <a:solidFill>
                  <a:srgbClr val="707872"/>
                </a:solidFill>
                <a:latin typeface="Segoe UI"/>
              </a:defRPr>
            </a:pPr>
            <a:r>
              <a:t>Zero LLM hallucinations: all responses cite exact AST code entities, file locations, and commit authors.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514600" cy="4114800"/>
          </a:xfrm>
          <a:prstGeom prst="roundRect">
            <a:avLst/>
          </a:prstGeom>
          <a:solidFill>
            <a:srgbClr val="FFFEF9"/>
          </a:solidFill>
          <a:ln w="12700">
            <a:solidFill>
              <a:srgbClr val="DE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24028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85B52"/>
                </a:solidFill>
                <a:latin typeface="Georgia"/>
              </a:defRPr>
            </a:pPr>
            <a:r>
              <a:t>10x</a:t>
            </a:r>
          </a:p>
          <a:p>
            <a:pPr>
              <a:spcBef>
                <a:spcPts val="800"/>
              </a:spcBef>
              <a:defRPr sz="1400" b="1">
                <a:solidFill>
                  <a:srgbClr val="17201D"/>
                </a:solidFill>
                <a:latin typeface="Segoe UI"/>
              </a:defRPr>
            </a:pPr>
            <a:r>
              <a:t>Faster PRD-to-Code Auditing</a:t>
            </a:r>
          </a:p>
          <a:p>
            <a:pPr>
              <a:spcBef>
                <a:spcPts val="1000"/>
              </a:spcBef>
              <a:defRPr sz="1100">
                <a:solidFill>
                  <a:srgbClr val="707872"/>
                </a:solidFill>
                <a:latin typeface="Segoe UI"/>
              </a:defRPr>
            </a:pPr>
            <a:r>
              <a:t>Enables Product Managers and auditors to verify requirement implementation without needing manual code walkthroughs.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1D"/>
          </a:solidFill>
          <a:ln>
            <a:solidFill>
              <a:srgbClr val="172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F56A"/>
                </a:solidFill>
                <a:latin typeface="Segoe UI"/>
              </a:defRPr>
            </a:pPr>
            <a:r>
              <a:t>THE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6F6EE"/>
                </a:solidFill>
                <a:latin typeface="Georgia"/>
              </a:defRPr>
            </a:pPr>
            <a:r>
              <a:t>Future Improvisations &amp;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49F"/>
                </a:solidFill>
                <a:latin typeface="Segoe UI"/>
              </a:defRPr>
            </a:pPr>
            <a:r>
              <a:t>Expanding AutoKT from an onboarding platform into an autonomous, continuous knowledge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212C28"/>
          </a:solidFill>
          <a:ln w="12700">
            <a:solidFill>
              <a:srgbClr val="33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F56A"/>
                </a:solidFill>
                <a:latin typeface="Georgia"/>
              </a:defRPr>
            </a:pPr>
            <a:r>
              <a:t>1. CI/CD 'Knowledge Drift' Gates</a:t>
            </a:r>
          </a:p>
          <a:p>
            <a:pPr>
              <a:spcBef>
                <a:spcPts val="800"/>
              </a:spcBef>
              <a:defRPr sz="1100">
                <a:solidFill>
                  <a:srgbClr val="9AA49F"/>
                </a:solidFill>
                <a:latin typeface="Segoe UI"/>
              </a:defRPr>
            </a:pPr>
            <a:r>
              <a:t>A GitHub Action/GitLab bot that inspects every pull request, warning when a PR introduces single-author ownership or undocumented critical functions.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120640" cy="1920240"/>
          </a:xfrm>
          <a:prstGeom prst="roundRect">
            <a:avLst/>
          </a:prstGeom>
          <a:solidFill>
            <a:srgbClr val="212C28"/>
          </a:solidFill>
          <a:ln w="12700">
            <a:solidFill>
              <a:srgbClr val="33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7627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579E8"/>
                </a:solidFill>
                <a:latin typeface="Georgia"/>
              </a:defRPr>
            </a:pPr>
            <a:r>
              <a:t>2. In-Editor IDE Extensions</a:t>
            </a:r>
          </a:p>
          <a:p>
            <a:pPr>
              <a:spcBef>
                <a:spcPts val="800"/>
              </a:spcBef>
              <a:defRPr sz="1100">
                <a:solidFill>
                  <a:srgbClr val="9AA49F"/>
                </a:solidFill>
                <a:latin typeface="Segoe UI"/>
              </a:defRPr>
            </a:pPr>
            <a:r>
              <a:t>Native VS Code and JetBrains plugins bringing the interactive graph and instant KT explanations directly into the engineer's active coding buffer.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20640" cy="1920240"/>
          </a:xfrm>
          <a:prstGeom prst="roundRect">
            <a:avLst/>
          </a:prstGeom>
          <a:solidFill>
            <a:srgbClr val="212C28"/>
          </a:solidFill>
          <a:ln w="12700">
            <a:solidFill>
              <a:srgbClr val="33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2511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D7C4A"/>
                </a:solidFill>
                <a:latin typeface="Georgia"/>
              </a:defRPr>
            </a:pPr>
            <a:r>
              <a:t>3. Architectural Impact Simulation</a:t>
            </a:r>
          </a:p>
          <a:p>
            <a:pPr>
              <a:spcBef>
                <a:spcPts val="800"/>
              </a:spcBef>
              <a:defRPr sz="1100">
                <a:solidFill>
                  <a:srgbClr val="9AA49F"/>
                </a:solidFill>
                <a:latin typeface="Segoe UI"/>
              </a:defRPr>
            </a:pPr>
            <a:r>
              <a:t>Predictive change analysis: 'If I refactor module X, which 18 downstream APIs and product requirements will be impacted?'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60520"/>
            <a:ext cx="5120640" cy="1920240"/>
          </a:xfrm>
          <a:prstGeom prst="roundRect">
            <a:avLst/>
          </a:prstGeom>
          <a:solidFill>
            <a:srgbClr val="212C28"/>
          </a:solidFill>
          <a:ln w="12700">
            <a:solidFill>
              <a:srgbClr val="33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2511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4833F"/>
                </a:solidFill>
                <a:latin typeface="Georgia"/>
              </a:defRPr>
            </a:pPr>
            <a:r>
              <a:t>4. Interactive Speech &amp; Video Avatars</a:t>
            </a:r>
          </a:p>
          <a:p>
            <a:pPr>
              <a:spcBef>
                <a:spcPts val="800"/>
              </a:spcBef>
              <a:defRPr sz="1100">
                <a:solidFill>
                  <a:srgbClr val="9AA49F"/>
                </a:solidFill>
                <a:latin typeface="Segoe UI"/>
              </a:defRPr>
            </a:pPr>
            <a:r>
              <a:t>Synthesizing customized, interactive walkthrough audio and video summaries for auditory and visual learners during onboarding.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